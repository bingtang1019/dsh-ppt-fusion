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charts/chart101.xml" ContentType="application/vnd.openxmlformats-officedocument.drawingml.char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16x9"/>
  <p:notesSz cx="6858000" cy="9144000"/>
  <p:defaultTextStyle>
    <a:defPPr>
      <a:defRPr lang="en"/>
    </a:defPPr>
    <a:lvl1pPr marL="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charts/_rels/chart101.xml.rels><?xml version="1.0" encoding="UTF-8" standalone="yes"?>
<Relationships xmlns="http://schemas.openxmlformats.org/package/2006/relationships">
<Relationship Id="rId1" Type="http://schemas.openxmlformats.org/officeDocument/2006/relationships/package" Target="../embeddings/Microsoft_Excel_Sheet101.xlsx"/>
</Relationships>
</file>

<file path=ppt/charts/chart10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Deck pages</c:v>
                </c:pt>
              </c:strCache>
            </c:strRef>
          </c:tx>
          <c:spPr>
            <a:solidFill>
              <a:srgbClr val="1E2A4A"/>
            </a:solidFill>
            <a:ln>
              <a:solidFill>
                <a:srgbClr val="1E2A4A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M0</c:v>
                </c:pt>
                <c:pt idx="1">
                  <c:v>M1</c:v>
                </c:pt>
                <c:pt idx="2">
                  <c:v>M4</c:v>
                </c:pt>
                <c:pt idx="3">
                  <c:v>M9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12</c:v>
                </c:pt>
                <c:pt idx="2">
                  <c:v>30</c:v>
                </c:pt>
                <c:pt idx="3">
                  <c:v>60</c:v>
                </c:pt>
              </c:numCache>
            </c:numRef>
          </c:val>
        </c:ser>
        <c:gapWidth val="15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5B6069"/>
            </a:solidFill>
            <a:round/>
          </a:ln>
        </c:spPr>
        <c:txPr>
          <a:bodyPr/>
          <a:lstStyle/>
          <a:p>
            <a:pPr>
              <a:defRPr lang="en" sz="1650">
                <a:solidFill>
                  <a:srgbClr val="5B6069"/>
                </a:solidFill>
                <a:latin typeface="Arial"/>
                <a:ea typeface="Microsoft YaHei"/>
                <a:cs typeface="Arial"/>
              </a:defRPr>
            </a:pPr>
            <a:endParaRPr lang="en"/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9DED8"/>
              </a:solidFill>
              <a:round/>
            </a:ln>
          </c:spPr>
        </c:majorGridlines>
        <c:majorTickMark val="none"/>
        <c:minorTickMark val="none"/>
        <c:tickLblPos val="nextTo"/>
        <c:spPr>
          <a:ln w="9525" cap="flat" cmpd="sng" algn="ctr">
            <a:solidFill>
              <a:srgbClr val="5B6069"/>
            </a:solidFill>
            <a:round/>
          </a:ln>
        </c:spPr>
        <c:txPr>
          <a:bodyPr/>
          <a:lstStyle/>
          <a:p>
            <a:pPr>
              <a:defRPr lang="en" sz="1650">
                <a:solidFill>
                  <a:srgbClr val="5B6069"/>
                </a:solidFill>
                <a:latin typeface="Arial"/>
                <a:ea typeface="Microsoft YaHei"/>
                <a:cs typeface="Arial"/>
              </a:defRPr>
            </a:pPr>
            <a:endParaRPr lang="en"/>
          </a:p>
        </c:txPr>
        <c:crossAx val="2068027336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lang="en" sz="1650">
          <a:solidFill>
            <a:srgbClr val="5B6069"/>
          </a:solidFill>
          <a:latin typeface="Arial"/>
          <a:ea typeface="Microsoft YaHei"/>
          <a:cs typeface="Arial"/>
        </a:defRPr>
      </a:pPr>
      <a:endParaRPr lang="en"/>
    </a:p>
  </c:txPr>
  <c:externalData r:id="rId1">
    <c:autoUpdate val="0"/>
  </c:externalData>
</c:chartSpace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deep-p03-p04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" smtClean="0"/>
              <a:t>1/27/13</a:t>
            </a:fld>
            <a:endParaRPr lang="e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" smtClean="0"/>
              <a:t>‹#›</a:t>
            </a:fld>
            <a:endParaRPr lang="e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deep-p03-p04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e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" smtClean="0"/>
              <a:t>1/27/13</a:t>
            </a:fld>
            <a:endParaRPr lang="e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e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e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" smtClean="0"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e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e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e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e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"/>
      </a:defPPr>
      <a:lvl1pPr marL="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chart" Target="../charts/chart101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age-heading"/>
          <p:cNvGrpSpPr/>
          <p:nvPr/>
        </p:nvGrpSpPr>
        <p:grpSpPr>
          <a:xfrm>
            <a:off x="745998" y="707708"/>
            <a:ext cx="6149621" cy="701992"/>
            <a:chOff x="745998" y="707708"/>
            <a:chExt cx="6149621" cy="701992"/>
          </a:xfrm>
        </p:grpSpPr>
        <p:sp>
          <p:nvSpPr>
            <p:cNvPr id="2" name="TextBox 2"/>
            <p:cNvSpPr txBox="1"/>
            <p:nvPr/>
          </p:nvSpPr>
          <p:spPr>
            <a:xfrm>
              <a:off x="745998" y="707708"/>
              <a:ext cx="6149621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150" b="1" dirty="0">
                  <a:solidFill>
                    <a:srgbClr val="1E2A4A"/>
                  </a:solidFill>
                  <a:latin typeface="+mn-lt"/>
                  <a:ea typeface="+mn-ea"/>
                  <a:cs typeface="+mn-cs"/>
                </a:rPr>
                <a:t>Pages delivered per milestone</a:t>
              </a:r>
            </a:p>
          </p:txBody>
        </p:sp>
        <p:sp>
          <p:nvSpPr>
            <p:cNvPr id="3" name="heading-rule"/>
            <p:cNvSpPr/>
            <p:nvPr/>
          </p:nvSpPr>
          <p:spPr>
            <a:xfrm>
              <a:off x="762000" y="1333500"/>
              <a:ext cx="1143000" cy="76200"/>
            </a:xfrm>
            <a:prstGeom prst="rect">
              <a:avLst/>
            </a:prstGeom>
            <a:solidFill>
              <a:srgbClr val="F5C518"/>
            </a:solidFill>
            <a:ln>
              <a:noFill/>
            </a:ln>
          </p:spPr>
        </p:sp>
      </p:grpSp>
      <p:graphicFrame>
        <p:nvGraphicFramePr>
          <p:cNvPr id="5" name="milestone-chart"/>
          <p:cNvGraphicFramePr>
            <a:graphicFrameLocks noGrp="1"/>
          </p:cNvGraphicFramePr>
          <p:nvPr/>
        </p:nvGraphicFramePr>
        <p:xfrm>
          <a:off x="952500" y="2095500"/>
          <a:ext cx="1028700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age-heading"/>
          <p:cNvGrpSpPr/>
          <p:nvPr/>
        </p:nvGrpSpPr>
        <p:grpSpPr>
          <a:xfrm>
            <a:off x="745998" y="707708"/>
            <a:ext cx="6690106" cy="701992"/>
            <a:chOff x="745998" y="707708"/>
            <a:chExt cx="6690106" cy="701992"/>
          </a:xfrm>
        </p:grpSpPr>
        <p:sp>
          <p:nvSpPr>
            <p:cNvPr id="2" name="TextBox 2"/>
            <p:cNvSpPr txBox="1"/>
            <p:nvPr/>
          </p:nvSpPr>
          <p:spPr>
            <a:xfrm>
              <a:off x="745998" y="707708"/>
              <a:ext cx="669010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150" b="1" dirty="0">
                  <a:solidFill>
                    <a:srgbClr val="1E2A4A"/>
                  </a:solidFill>
                  <a:latin typeface="+mn-lt"/>
                  <a:ea typeface="+mn-ea"/>
                  <a:cs typeface="+mn-cs"/>
                </a:rPr>
                <a:t>Which engine owns which object</a:t>
              </a:r>
            </a:p>
          </p:txBody>
        </p:sp>
        <p:sp>
          <p:nvSpPr>
            <p:cNvPr id="3" name="heading-rule"/>
            <p:cNvSpPr/>
            <p:nvPr/>
          </p:nvSpPr>
          <p:spPr>
            <a:xfrm>
              <a:off x="762000" y="1333500"/>
              <a:ext cx="1143000" cy="76200"/>
            </a:xfrm>
            <a:prstGeom prst="rect">
              <a:avLst/>
            </a:prstGeom>
            <a:solidFill>
              <a:srgbClr val="F5C518"/>
            </a:solidFill>
            <a:ln>
              <a:noFill/>
            </a:ln>
          </p:spPr>
        </p:sp>
      </p:grpSp>
      <p:graphicFrame>
        <p:nvGraphicFramePr>
          <p:cNvPr id="5" name="engine-table"/>
          <p:cNvGraphicFramePr>
            <a:graphicFrameLocks noGrp="1"/>
          </p:cNvGraphicFramePr>
          <p:nvPr/>
        </p:nvGraphicFramePr>
        <p:xfrm>
          <a:off x="762000" y="2095500"/>
          <a:ext cx="10668000" cy="17145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810000"/>
                <a:gridCol w="4191000"/>
                <a:gridCol w="2667000"/>
              </a:tblGrid>
              <a:tr h="571500">
                <a:tc>
                  <a:txBody>
                    <a:bodyPr/>
                    <a:lstStyle/>
                    <a:p>
                      <a:pPr/>
                      <a:r>
                        <a:rPr lang="en" sz="980" b="1">
                          <a:solidFill>
                            <a:srgbClr val="5B6069"/>
                          </a:solidFill>
                          <a:latin typeface="Arial"/>
                          <a:ea typeface="Microsoft YaHei"/>
                          <a:cs typeface="Arial"/>
                        </a:rPr>
                        <a:t>Capability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980" b="1">
                          <a:solidFill>
                            <a:srgbClr val="5B6069"/>
                          </a:solidFill>
                          <a:latin typeface="Arial"/>
                          <a:ea typeface="Microsoft YaHei"/>
                          <a:cs typeface="Arial"/>
                        </a:rPr>
                        <a:t>Engine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980" b="1">
                          <a:solidFill>
                            <a:srgbClr val="5B6069"/>
                          </a:solidFill>
                          <a:latin typeface="Arial"/>
                          <a:ea typeface="Microsoft YaHei"/>
                          <a:cs typeface="Arial"/>
                        </a:rPr>
                        <a:t>Native object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Charts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ppt-master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chartSpace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Tables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ppt-master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graphicFrame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deep-p03-p04">
  <a:themeElements>
    <a:clrScheme name="deep-p03-p04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deep-p03-p04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ep-p03-p04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en</dc:language>
  <cp:lastModifiedBy/>
  <cp:revision>1</cp:revision>
  <dcterms:created xsi:type="dcterms:W3CDTF">2026-09-22T09:07:13Z</dcterms:created>
  <dcterms:modified xsi:type="dcterms:W3CDTF">2026-09-22T09:07:13Z</dcterms:modified>
  <cp:category/>
  <cp:contentStatus/>
</cp:coreProperties>
</file>