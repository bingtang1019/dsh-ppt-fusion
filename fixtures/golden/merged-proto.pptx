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91643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594610"/>
            <a:ext cx="10668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524000" y="4114800"/>
            <a:ext cx="4800600" cy="76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518660"/>
            <a:ext cx="10668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front end + ppt-master deep engine, one deck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D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Why fuse the two engines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DSH-native shell, IR v5, themes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geometry and contrast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native charts, tables, formulas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080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animation and narration timelines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081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This page is a standard page, made by pptwise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67250"/>
            <a:ext cx="8382000" cy="952500"/>
          </a:xfrm>
          <a:prstGeom prst="roundRect">
            <a:avLst>
              <a:gd name="adj" fmla="val 2000"/>
            </a:avLst>
          </a:prstGeom>
          <a:solidFill>
            <a:srgbClr val="EBEA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363" y="4884738"/>
            <a:ext cx="174625" cy="174625"/>
          </a:xfrm>
          <a:prstGeom prst="ellipse">
            <a:avLst/>
          </a:pr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497205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9675" y="4937125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7800" y="486537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Pages 3 and 4 of this fixture are routed to the deep engine 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7800" y="518922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the fusion build; this M0 copy renders all five with pptwise.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B6069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407069" cy="701992"/>
            <a:chOff x="745998" y="707708"/>
            <a:chExt cx="6407069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407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Stage cost in the fused pipeline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pSp>
        <p:nvGrpSpPr>
          <p:cNvPr id="18" name="chart-bars"/>
          <p:cNvGrpSpPr/>
          <p:nvPr/>
        </p:nvGrpSpPr>
        <p:grpSpPr>
          <a:xfrm>
            <a:off x="1325118" y="3841432"/>
            <a:ext cx="7247382" cy="1980057"/>
            <a:chOff x="1325118" y="3841432"/>
            <a:chExt cx="7247382" cy="1980057"/>
          </a:xfrm>
        </p:grpSpPr>
        <p:sp>
          <p:nvSpPr>
            <p:cNvPr id="5" name="axis"/>
            <p:cNvSpPr/>
            <p:nvPr/>
          </p:nvSpPr>
          <p:spPr>
            <a:xfrm>
              <a:off x="1333500" y="5334000"/>
              <a:ext cx="7239000" cy="38100"/>
            </a:xfrm>
            <a:prstGeom prst="rect">
              <a:avLst/>
            </a:prstGeom>
            <a:solidFill>
              <a:srgbClr val="DDDCD4"/>
            </a:solidFill>
            <a:ln>
              <a:noFill/>
            </a:ln>
          </p:spPr>
        </p:sp>
        <p:sp>
          <p:nvSpPr>
            <p:cNvPr id="6" name="bar-ir"/>
            <p:cNvSpPr/>
            <p:nvPr/>
          </p:nvSpPr>
          <p:spPr>
            <a:xfrm>
              <a:off x="1333500" y="4191000"/>
              <a:ext cx="1143000" cy="114300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91818" y="3841432"/>
              <a:ext cx="387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12s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118" y="5498782"/>
              <a:ext cx="943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IR author</a:t>
              </a:r>
            </a:p>
          </p:txBody>
        </p:sp>
        <p:sp>
          <p:nvSpPr>
            <p:cNvPr id="9" name="bar-pptwise"/>
            <p:cNvSpPr/>
            <p:nvPr/>
          </p:nvSpPr>
          <p:spPr>
            <a:xfrm>
              <a:off x="3048000" y="4953000"/>
              <a:ext cx="1143000" cy="38100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06318" y="460343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39618" y="5498782"/>
              <a:ext cx="769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pptwise</a:t>
              </a:r>
            </a:p>
          </p:txBody>
        </p:sp>
        <p:sp>
          <p:nvSpPr>
            <p:cNvPr id="12" name="bar-deep"/>
            <p:cNvSpPr/>
            <p:nvPr/>
          </p:nvSpPr>
          <p:spPr>
            <a:xfrm>
              <a:off x="4762500" y="4476750"/>
              <a:ext cx="1143000" cy="85725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20818" y="412718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9s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4118" y="5498782"/>
              <a:ext cx="1214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deep render</a:t>
              </a:r>
            </a:p>
          </p:txBody>
        </p:sp>
        <p:sp>
          <p:nvSpPr>
            <p:cNvPr id="15" name="bar-merge"/>
            <p:cNvSpPr/>
            <p:nvPr/>
          </p:nvSpPr>
          <p:spPr>
            <a:xfrm>
              <a:off x="6477000" y="5238750"/>
              <a:ext cx="1143000" cy="9525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5318" y="488918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1s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5498782"/>
              <a:ext cx="646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</p:grpSp>
      <p:grpSp>
        <p:nvGrpSpPr>
          <p:cNvPr id="23" name="summary-card"/>
          <p:cNvGrpSpPr/>
          <p:nvPr/>
        </p:nvGrpSpPr>
        <p:grpSpPr>
          <a:xfrm>
            <a:off x="8953500" y="2857500"/>
            <a:ext cx="2667000" cy="2476500"/>
            <a:chOff x="8953500" y="2857500"/>
            <a:chExt cx="2667000" cy="2476500"/>
          </a:xfrm>
        </p:grpSpPr>
        <p:sp>
          <p:nvSpPr>
            <p:cNvPr id="19" name="Rectangle 19"/>
            <p:cNvSpPr/>
            <p:nvPr/>
          </p:nvSpPr>
          <p:spPr>
            <a:xfrm>
              <a:off x="8953500" y="2857500"/>
              <a:ext cx="26670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11818" y="3174682"/>
              <a:ext cx="14309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Total per deck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1912" y="3840480"/>
              <a:ext cx="84523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26s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1818" y="4546282"/>
              <a:ext cx="1683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measured locally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1809750"/>
            <a:ext cx="91440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1809750"/>
            <a:ext cx="9144000" cy="76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2659380"/>
            <a:ext cx="10058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依据 04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133600" y="325755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 split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2133600" y="365760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(fallback: pptwise)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5715000" y="3137535"/>
            <a:ext cx="4572000" cy="419100"/>
          </a:xfrm>
          <a:prstGeom prst="rect">
            <a:avLst/>
          </a:prstGeom>
          <a:solidFill>
            <a:srgbClr val="FDF6DA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2428875"/>
            <a:ext cx="6362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32034" y="2428875"/>
            <a:ext cx="425996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28467" y="2428875"/>
            <a:ext cx="47635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Native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15000" y="2718435"/>
            <a:ext cx="4572000" cy="0"/>
          </a:xfrm>
          <a:prstGeom prst="line">
            <a:avLst/>
          </a:prstGeom>
          <a:noFill/>
          <a:ln w="19050">
            <a:solidFill>
              <a:srgbClr val="1C1E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31375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5566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39757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43948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9300" y="28632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Bullets,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2034" y="28632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28467" y="28632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29300" y="32823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32034" y="32823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8467" y="32823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29300" y="37014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32034" y="37014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8467" y="37014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29300" y="41205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Formulas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32034" y="41205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8467" y="41205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7830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628900"/>
            <a:ext cx="1066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9300" y="2506980"/>
            <a:ext cx="10172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Next: M0 acceptance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019300" y="2914650"/>
            <a:ext cx="2400300" cy="571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715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9359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validate / render / audit / preview all green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