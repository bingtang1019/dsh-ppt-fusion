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91643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594610"/>
            <a:ext cx="106680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524000" y="4114800"/>
            <a:ext cx="4800600" cy="76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518660"/>
            <a:ext cx="10668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 front end + ppt-master deep engine, one deck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D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Why fuse the two engines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pptwise: DSH-native shell, IR v5, themes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pptwise: geometry and contrast audit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ppt-master: native charts, tables, formulas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080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ppt-master: animation and narration timelines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081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This page is a standard page, made by pptwise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667250"/>
            <a:ext cx="8382000" cy="952500"/>
          </a:xfrm>
          <a:prstGeom prst="roundRect">
            <a:avLst>
              <a:gd name="adj" fmla="val 2000"/>
            </a:avLst>
          </a:prstGeom>
          <a:solidFill>
            <a:srgbClr val="EBEAE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2363" y="4884738"/>
            <a:ext cx="174625" cy="174625"/>
          </a:xfrm>
          <a:prstGeom prst="ellipse">
            <a:avLst/>
          </a:pr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9675" y="4972050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9675" y="4937125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7800" y="486537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Pages 3 and 4 of this fixture are routed to the deep engine 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47800" y="518922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the fusion build; this M0 copy renders all five with pptwise.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5B6069">
                    <a:alpha val="30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24000" y="1323975"/>
            <a:ext cx="114300" cy="1143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1733550"/>
            <a:ext cx="1066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Render time per stage (fallback: pptwise)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24000" y="2667000"/>
            <a:ext cx="923925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6900" y="3131820"/>
            <a:ext cx="0" cy="1905000"/>
          </a:xfrm>
          <a:prstGeom prst="line">
            <a:avLst/>
          </a:prstGeom>
          <a:noFill/>
          <a:ln w="14288">
            <a:solidFill>
              <a:srgbClr val="DD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6900" y="5036820"/>
            <a:ext cx="8820150" cy="0"/>
          </a:xfrm>
          <a:prstGeom prst="line">
            <a:avLst/>
          </a:prstGeom>
          <a:noFill/>
          <a:ln w="14288">
            <a:solidFill>
              <a:srgbClr val="DD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968240"/>
            <a:ext cx="1790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333240"/>
            <a:ext cx="1790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3698240"/>
            <a:ext cx="1790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3063240"/>
            <a:ext cx="1790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124450"/>
            <a:ext cx="59388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IR author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5124450"/>
            <a:ext cx="103489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 render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6987" y="5124450"/>
            <a:ext cx="96250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deep render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77062" y="5124450"/>
            <a:ext cx="5214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merge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05000" y="3512820"/>
            <a:ext cx="2128838" cy="15240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3305175"/>
            <a:ext cx="59388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3"/>
                </a:solidFill>
              </a:rPr>
              <a:t>12</a:t>
            </a:r>
            <a:endParaRPr lang="en-US" sz="1200" dirty="0"/>
          </a:p>
        </p:txBody>
      </p:sp>
      <p:sp>
        <p:nvSpPr>
          <p:cNvPr id="21" name="svg2pptx-gradient-s0002-0000"/>
          <p:cNvSpPr/>
          <p:nvPr/>
        </p:nvSpPr>
        <p:spPr>
          <a:xfrm>
            <a:off x="4110038" y="4528820"/>
            <a:ext cx="2128838" cy="508000"/>
          </a:xfrm>
          <a:prstGeom prst="rect">
            <a:avLst/>
          </a:prstGeom>
          <a:gradFill rotWithShape="1">
            <a:gsLst>
              <a:gs pos="0">
                <a:srgbClr val="1E2A4A">
                  <a:alpha val="75000"/>
                </a:srgbClr>
              </a:gs>
              <a:gs pos="100000">
                <a:srgbClr val="151D34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22" name="Text 20"/>
          <p:cNvSpPr/>
          <p:nvPr/>
        </p:nvSpPr>
        <p:spPr>
          <a:xfrm>
            <a:off x="0" y="4321175"/>
            <a:ext cx="103489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3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vg2pptx-gradient-s0002-0001"/>
          <p:cNvSpPr/>
          <p:nvPr/>
        </p:nvSpPr>
        <p:spPr>
          <a:xfrm>
            <a:off x="6315075" y="3893820"/>
            <a:ext cx="2128838" cy="1143000"/>
          </a:xfrm>
          <a:prstGeom prst="rect">
            <a:avLst/>
          </a:prstGeom>
          <a:gradFill rotWithShape="1">
            <a:gsLst>
              <a:gs pos="0">
                <a:srgbClr val="1E2A4A">
                  <a:alpha val="75000"/>
                </a:srgbClr>
              </a:gs>
              <a:gs pos="100000">
                <a:srgbClr val="151D34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2566987" y="3686175"/>
            <a:ext cx="96250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3"/>
                </a:solidFill>
              </a:rPr>
              <a:t>9</a:t>
            </a:r>
            <a:endParaRPr lang="en-US" sz="1200" dirty="0"/>
          </a:p>
        </p:txBody>
      </p:sp>
      <p:sp>
        <p:nvSpPr>
          <p:cNvPr id="25" name="svg2pptx-gradient-s0002-0002"/>
          <p:cNvSpPr/>
          <p:nvPr/>
        </p:nvSpPr>
        <p:spPr>
          <a:xfrm>
            <a:off x="8520113" y="4909820"/>
            <a:ext cx="2128838" cy="127000"/>
          </a:xfrm>
          <a:prstGeom prst="rect">
            <a:avLst/>
          </a:prstGeom>
          <a:gradFill rotWithShape="1">
            <a:gsLst>
              <a:gs pos="0">
                <a:srgbClr val="1E2A4A">
                  <a:alpha val="75000"/>
                </a:srgbClr>
              </a:gs>
              <a:gs pos="100000">
                <a:srgbClr val="151D34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6977062" y="4702175"/>
            <a:ext cx="521493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E23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66900" y="5353050"/>
            <a:ext cx="10325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Seconds 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99232" y="5353050"/>
            <a:ext cx="91927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Stage →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1809750"/>
            <a:ext cx="91440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1809750"/>
            <a:ext cx="9144000" cy="76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2133600" y="2659380"/>
            <a:ext cx="10058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依据 04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133600" y="3257550"/>
            <a:ext cx="10058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25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Engine split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2133600" y="3657600"/>
            <a:ext cx="10058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25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(fallback: pptwise)</a:t>
            </a:r>
            <a:endParaRPr lang="en-US" sz="2625" dirty="0"/>
          </a:p>
        </p:txBody>
      </p:sp>
      <p:sp>
        <p:nvSpPr>
          <p:cNvPr id="10" name="Shape 8"/>
          <p:cNvSpPr/>
          <p:nvPr/>
        </p:nvSpPr>
        <p:spPr>
          <a:xfrm>
            <a:off x="5715000" y="3137535"/>
            <a:ext cx="4572000" cy="419100"/>
          </a:xfrm>
          <a:prstGeom prst="rect">
            <a:avLst/>
          </a:prstGeom>
          <a:solidFill>
            <a:srgbClr val="FDF6DA"/>
          </a:solidFill>
          <a:ln/>
        </p:spPr>
      </p:sp>
      <p:sp>
        <p:nvSpPr>
          <p:cNvPr id="11" name="Text 9"/>
          <p:cNvSpPr/>
          <p:nvPr/>
        </p:nvSpPr>
        <p:spPr>
          <a:xfrm>
            <a:off x="5829300" y="2428875"/>
            <a:ext cx="6362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Capability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32034" y="2428875"/>
            <a:ext cx="425996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28467" y="2428875"/>
            <a:ext cx="476353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Native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15000" y="2718435"/>
            <a:ext cx="4572000" cy="0"/>
          </a:xfrm>
          <a:prstGeom prst="line">
            <a:avLst/>
          </a:prstGeom>
          <a:noFill/>
          <a:ln w="19050">
            <a:solidFill>
              <a:srgbClr val="1C1E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31375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5566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39757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43948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9300" y="28632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Bullets, cards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32034" y="28632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28467" y="28632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29300" y="32823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32034" y="32823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28467" y="32823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29300" y="37014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Tables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32034" y="37014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28467" y="37014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29300" y="41205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Formulas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32034" y="41205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8467" y="41205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7830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628900"/>
            <a:ext cx="1066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9300" y="2506980"/>
            <a:ext cx="101727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Next: M0 acceptance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019300" y="2914650"/>
            <a:ext cx="2400300" cy="571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5715000"/>
            <a:ext cx="923925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59359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validate / render / audit / preview all green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