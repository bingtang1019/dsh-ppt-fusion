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40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16x9"/>
  <p:notesSz cx="6858000" cy="9144000"/>
  <p:defaultTextStyle>
    <a:defPPr>
      <a:defRPr lang="en"/>
    </a:defPPr>
    <a:lvl1pPr marL="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4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401.xlsx"/>
</Relationships>
</file>

<file path=ppt/charts/chart4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Deck pages</c:v>
                </c:pt>
              </c:strCache>
            </c:strRef>
          </c:tx>
          <c:spPr>
            <a:solidFill>
              <a:srgbClr val="1E2A4A"/>
            </a:solidFill>
            <a:ln>
              <a:solidFill>
                <a:srgbClr val="1E2A4A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M0</c:v>
                </c:pt>
                <c:pt idx="1">
                  <c:v>M1</c:v>
                </c:pt>
                <c:pt idx="2">
                  <c:v>M4</c:v>
                </c:pt>
                <c:pt idx="3">
                  <c:v>M9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12</c:v>
                </c:pt>
                <c:pt idx="2">
                  <c:v>30</c:v>
                </c:pt>
                <c:pt idx="3">
                  <c:v>60</c:v>
                </c:pt>
              </c:numCache>
            </c:numRef>
          </c:val>
        </c:ser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5B6069"/>
            </a:solidFill>
            <a:round/>
          </a:ln>
        </c:spPr>
        <c:txPr>
          <a:bodyPr/>
          <a:lstStyle/>
          <a:p>
            <a:pPr>
              <a:defRPr lang="en" sz="1650">
                <a:solidFill>
                  <a:srgbClr val="5B6069"/>
                </a:solidFill>
                <a:latin typeface="Arial"/>
                <a:ea typeface="Microsoft YaHei"/>
                <a:cs typeface="Arial"/>
              </a:defRPr>
            </a:pPr>
            <a:endParaRPr lang="e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9DED8"/>
              </a:solidFill>
              <a:round/>
            </a:ln>
          </c:spPr>
        </c:majorGridlines>
        <c:majorTickMark val="none"/>
        <c:minorTickMark val="none"/>
        <c:tickLblPos val="nextTo"/>
        <c:spPr>
          <a:ln w="9525" cap="flat" cmpd="sng" algn="ctr">
            <a:solidFill>
              <a:srgbClr val="5B6069"/>
            </a:solidFill>
            <a:round/>
          </a:ln>
        </c:spPr>
        <c:txPr>
          <a:bodyPr/>
          <a:lstStyle/>
          <a:p>
            <a:pPr>
              <a:defRPr lang="en" sz="1650">
                <a:solidFill>
                  <a:srgbClr val="5B6069"/>
                </a:solidFill>
                <a:latin typeface="Arial"/>
                <a:ea typeface="Microsoft YaHei"/>
                <a:cs typeface="Arial"/>
              </a:defRPr>
            </a:pPr>
            <a:endParaRPr lang="en"/>
          </a:p>
        </c:txPr>
        <c:crossAx val="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en" sz="1650">
          <a:solidFill>
            <a:srgbClr val="5B6069"/>
          </a:solidFill>
          <a:latin typeface="Arial"/>
          <a:ea typeface="Microsoft YaHei"/>
          <a:cs typeface="Arial"/>
        </a:defRPr>
      </a:pPr>
      <a:endParaRPr lang="en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aster-hell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-hell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e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chart" Target="../charts/chart401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E2A4A"/>
          </a:solidFill>
          <a:ln>
            <a:noFill/>
          </a:ln>
        </p:spPr>
      </p:sp>
      <p:grpSp>
        <p:nvGrpSpPr>
          <p:cNvPr id="7" name="cover-title"/>
          <p:cNvGrpSpPr/>
          <p:nvPr/>
        </p:nvGrpSpPr>
        <p:grpSpPr>
          <a:xfrm>
            <a:off x="742950" y="2381250"/>
            <a:ext cx="7935275" cy="3846195"/>
            <a:chOff x="742950" y="2381250"/>
            <a:chExt cx="7935275" cy="3846195"/>
          </a:xfrm>
        </p:grpSpPr>
        <p:sp>
          <p:nvSpPr>
            <p:cNvPr id="3" name="title-rule"/>
            <p:cNvSpPr/>
            <p:nvPr/>
          </p:nvSpPr>
          <p:spPr>
            <a:xfrm>
              <a:off x="762000" y="2381250"/>
              <a:ext cx="1143000" cy="95250"/>
            </a:xfrm>
            <a:prstGeom prst="rect">
              <a:avLst/>
            </a:prstGeom>
            <a:solidFill>
              <a:srgbClr val="F5C51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2950" y="2625090"/>
              <a:ext cx="793527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4800" b="1" dirty="0">
                  <a:solidFill>
                    <a:srgbClr val="1E2A4A"/>
                  </a:solidFill>
                  <a:latin typeface="+mn-lt"/>
                  <a:ea typeface="+mn-ea"/>
                  <a:cs typeface="+mn-cs"/>
                </a:rPr>
                <a:t>dsh-ppt-fusion deep page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2094" y="3523298"/>
              <a:ext cx="67271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dirty="0">
                  <a:solidFill>
                    <a:srgbClr val="5B6069"/>
                  </a:solidFill>
                  <a:latin typeface="+mn-lt"/>
                  <a:ea typeface="+mn-ea"/>
                  <a:cs typeface="+mn-cs"/>
                </a:rPr>
                <a:t>ppt-master engine renders this page to native DrawingML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4380" y="5934075"/>
              <a:ext cx="14372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5B6069"/>
                  </a:solidFill>
                  <a:latin typeface="+mn-lt"/>
                  <a:ea typeface="+mn-ea"/>
                  <a:cs typeface="+mn-cs"/>
                </a:rPr>
                <a:t>M0 smoke deck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ing"/>
          <p:cNvGrpSpPr/>
          <p:nvPr/>
        </p:nvGrpSpPr>
        <p:grpSpPr>
          <a:xfrm>
            <a:off x="745998" y="707708"/>
            <a:ext cx="5536421" cy="701992"/>
            <a:chOff x="745998" y="707708"/>
            <a:chExt cx="5536421" cy="701992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707708"/>
              <a:ext cx="55364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rgbClr val="1E2A4A"/>
                  </a:solidFill>
                  <a:latin typeface="+mn-lt"/>
                  <a:ea typeface="+mn-ea"/>
                  <a:cs typeface="+mn-cs"/>
                </a:rPr>
                <a:t>What the deep engine adds</a:t>
              </a:r>
            </a:p>
          </p:txBody>
        </p:sp>
        <p:sp>
          <p:nvSpPr>
            <p:cNvPr id="3" name="heading-rule"/>
            <p:cNvSpPr/>
            <p:nvPr/>
          </p:nvSpPr>
          <p:spPr>
            <a:xfrm>
              <a:off x="762000" y="1333500"/>
              <a:ext cx="1143000" cy="76200"/>
            </a:xfrm>
            <a:prstGeom prst="rect">
              <a:avLst/>
            </a:prstGeom>
            <a:solidFill>
              <a:srgbClr val="F5C518"/>
            </a:solidFill>
            <a:ln>
              <a:noFill/>
            </a:ln>
          </p:spPr>
        </p:sp>
      </p:grpSp>
      <p:grpSp>
        <p:nvGrpSpPr>
          <p:cNvPr id="8" name="card-native-chart"/>
          <p:cNvGrpSpPr/>
          <p:nvPr/>
        </p:nvGrpSpPr>
        <p:grpSpPr>
          <a:xfrm>
            <a:off x="762000" y="2000250"/>
            <a:ext cx="4953000" cy="1428750"/>
            <a:chOff x="762000" y="2000250"/>
            <a:chExt cx="4953000" cy="1428750"/>
          </a:xfrm>
        </p:grpSpPr>
        <p:sp>
          <p:nvSpPr>
            <p:cNvPr id="5" name="Rectangle 5"/>
            <p:cNvSpPr/>
            <p:nvPr/>
          </p:nvSpPr>
          <p:spPr>
            <a:xfrm>
              <a:off x="762000" y="2000250"/>
              <a:ext cx="4953000" cy="1428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CD4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58418" y="2412682"/>
              <a:ext cx="21343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1E2A4A"/>
                  </a:solidFill>
                  <a:latin typeface="+mn-lt"/>
                  <a:ea typeface="+mn-ea"/>
                  <a:cs typeface="+mn-cs"/>
                </a:rPr>
                <a:t>Native chart objects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58418" y="2831782"/>
              <a:ext cx="26659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rgbClr val="5B6069"/>
                  </a:solidFill>
                  <a:latin typeface="+mn-lt"/>
                  <a:ea typeface="+mn-ea"/>
                  <a:cs typeface="+mn-cs"/>
                </a:rPr>
                <a:t>Editable data, not a picture</a:t>
              </a:r>
            </a:p>
          </p:txBody>
        </p:sp>
      </p:grpSp>
      <p:grpSp>
        <p:nvGrpSpPr>
          <p:cNvPr id="12" name="card-native-table"/>
          <p:cNvGrpSpPr/>
          <p:nvPr/>
        </p:nvGrpSpPr>
        <p:grpSpPr>
          <a:xfrm>
            <a:off x="6477000" y="2000250"/>
            <a:ext cx="4953000" cy="1428750"/>
            <a:chOff x="6477000" y="2000250"/>
            <a:chExt cx="4953000" cy="1428750"/>
          </a:xfrm>
        </p:grpSpPr>
        <p:sp>
          <p:nvSpPr>
            <p:cNvPr id="9" name="Rectangle 9"/>
            <p:cNvSpPr/>
            <p:nvPr/>
          </p:nvSpPr>
          <p:spPr>
            <a:xfrm>
              <a:off x="6477000" y="2000250"/>
              <a:ext cx="4953000" cy="1428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CD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73418" y="2412682"/>
              <a:ext cx="21095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1E2A4A"/>
                  </a:solidFill>
                  <a:latin typeface="+mn-lt"/>
                  <a:ea typeface="+mn-ea"/>
                  <a:cs typeface="+mn-cs"/>
                </a:rPr>
                <a:t>Native table objects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73418" y="2831782"/>
              <a:ext cx="21221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rgbClr val="5B6069"/>
                  </a:solidFill>
                  <a:latin typeface="+mn-lt"/>
                  <a:ea typeface="+mn-ea"/>
                  <a:cs typeface="+mn-cs"/>
                </a:rPr>
                <a:t>Rows keep their cells</a:t>
              </a:r>
            </a:p>
          </p:txBody>
        </p:sp>
      </p:grpSp>
      <p:grpSp>
        <p:nvGrpSpPr>
          <p:cNvPr id="16" name="card-animation"/>
          <p:cNvGrpSpPr/>
          <p:nvPr/>
        </p:nvGrpSpPr>
        <p:grpSpPr>
          <a:xfrm>
            <a:off x="762000" y="4000500"/>
            <a:ext cx="4953000" cy="1428750"/>
            <a:chOff x="762000" y="4000500"/>
            <a:chExt cx="4953000" cy="1428750"/>
          </a:xfrm>
        </p:grpSpPr>
        <p:sp>
          <p:nvSpPr>
            <p:cNvPr id="13" name="Rectangle 13"/>
            <p:cNvSpPr/>
            <p:nvPr/>
          </p:nvSpPr>
          <p:spPr>
            <a:xfrm>
              <a:off x="762000" y="4000500"/>
              <a:ext cx="4953000" cy="1428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CD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8418" y="4412932"/>
              <a:ext cx="21338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1E2A4A"/>
                  </a:solidFill>
                  <a:latin typeface="+mn-lt"/>
                  <a:ea typeface="+mn-ea"/>
                  <a:cs typeface="+mn-cs"/>
                </a:rPr>
                <a:t>Animation timelines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8418" y="4832032"/>
              <a:ext cx="30732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rgbClr val="5B6069"/>
                  </a:solidFill>
                  <a:latin typeface="+mn-lt"/>
                  <a:ea typeface="+mn-ea"/>
                  <a:cs typeface="+mn-cs"/>
                </a:rPr>
                <a:t>Entrance and emphasis effects</a:t>
              </a:r>
            </a:p>
          </p:txBody>
        </p:sp>
      </p:grpSp>
      <p:grpSp>
        <p:nvGrpSpPr>
          <p:cNvPr id="20" name="card-narration"/>
          <p:cNvGrpSpPr/>
          <p:nvPr/>
        </p:nvGrpSpPr>
        <p:grpSpPr>
          <a:xfrm>
            <a:off x="6477000" y="4000500"/>
            <a:ext cx="4953000" cy="1428750"/>
            <a:chOff x="6477000" y="4000500"/>
            <a:chExt cx="4953000" cy="1428750"/>
          </a:xfrm>
        </p:grpSpPr>
        <p:sp>
          <p:nvSpPr>
            <p:cNvPr id="17" name="Rectangle 17"/>
            <p:cNvSpPr/>
            <p:nvPr/>
          </p:nvSpPr>
          <p:spPr>
            <a:xfrm>
              <a:off x="6477000" y="4000500"/>
              <a:ext cx="4953000" cy="1428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CD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73418" y="4412932"/>
              <a:ext cx="16648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1E2A4A"/>
                  </a:solidFill>
                  <a:latin typeface="+mn-lt"/>
                  <a:ea typeface="+mn-ea"/>
                  <a:cs typeface="+mn-cs"/>
                </a:rPr>
                <a:t>Narration audio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73418" y="4832032"/>
              <a:ext cx="2812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rgbClr val="5B6069"/>
                  </a:solidFill>
                  <a:latin typeface="+mn-lt"/>
                  <a:ea typeface="+mn-ea"/>
                  <a:cs typeface="+mn-cs"/>
                </a:rPr>
                <a:t>Per-slide voice with subtitles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ing"/>
          <p:cNvGrpSpPr/>
          <p:nvPr/>
        </p:nvGrpSpPr>
        <p:grpSpPr>
          <a:xfrm>
            <a:off x="745998" y="707708"/>
            <a:ext cx="6407069" cy="701992"/>
            <a:chOff x="745998" y="707708"/>
            <a:chExt cx="6407069" cy="701992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707708"/>
              <a:ext cx="64070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rgbClr val="1E2A4A"/>
                  </a:solidFill>
                  <a:latin typeface="+mn-lt"/>
                  <a:ea typeface="+mn-ea"/>
                  <a:cs typeface="+mn-cs"/>
                </a:rPr>
                <a:t>Stage cost in the fused pipeline</a:t>
              </a:r>
            </a:p>
          </p:txBody>
        </p:sp>
        <p:sp>
          <p:nvSpPr>
            <p:cNvPr id="3" name="heading-rule"/>
            <p:cNvSpPr/>
            <p:nvPr/>
          </p:nvSpPr>
          <p:spPr>
            <a:xfrm>
              <a:off x="762000" y="1333500"/>
              <a:ext cx="1143000" cy="76200"/>
            </a:xfrm>
            <a:prstGeom prst="rect">
              <a:avLst/>
            </a:prstGeom>
            <a:solidFill>
              <a:srgbClr val="F5C518"/>
            </a:solidFill>
            <a:ln>
              <a:noFill/>
            </a:ln>
          </p:spPr>
        </p:sp>
      </p:grpSp>
      <p:grpSp>
        <p:nvGrpSpPr>
          <p:cNvPr id="18" name="chart-bars"/>
          <p:cNvGrpSpPr/>
          <p:nvPr/>
        </p:nvGrpSpPr>
        <p:grpSpPr>
          <a:xfrm>
            <a:off x="1325118" y="3841432"/>
            <a:ext cx="7247382" cy="1980057"/>
            <a:chOff x="1325118" y="3841432"/>
            <a:chExt cx="7247382" cy="1980057"/>
          </a:xfrm>
        </p:grpSpPr>
        <p:sp>
          <p:nvSpPr>
            <p:cNvPr id="5" name="axis"/>
            <p:cNvSpPr/>
            <p:nvPr/>
          </p:nvSpPr>
          <p:spPr>
            <a:xfrm>
              <a:off x="1333500" y="5334000"/>
              <a:ext cx="7239000" cy="38100"/>
            </a:xfrm>
            <a:prstGeom prst="rect">
              <a:avLst/>
            </a:prstGeom>
            <a:solidFill>
              <a:srgbClr val="DDDCD4"/>
            </a:solidFill>
            <a:ln>
              <a:noFill/>
            </a:ln>
          </p:spPr>
        </p:sp>
        <p:sp>
          <p:nvSpPr>
            <p:cNvPr id="6" name="bar-ir"/>
            <p:cNvSpPr/>
            <p:nvPr/>
          </p:nvSpPr>
          <p:spPr>
            <a:xfrm>
              <a:off x="1333500" y="4191000"/>
              <a:ext cx="1143000" cy="1143000"/>
            </a:xfrm>
            <a:prstGeom prst="rect">
              <a:avLst/>
            </a:prstGeom>
            <a:solidFill>
              <a:srgbClr val="1E2A4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91818" y="3841432"/>
              <a:ext cx="3873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1C1E23"/>
                  </a:solidFill>
                  <a:latin typeface="+mn-lt"/>
                  <a:ea typeface="+mn-ea"/>
                  <a:cs typeface="+mn-cs"/>
                </a:rPr>
                <a:t>12s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25118" y="5498782"/>
              <a:ext cx="943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rgbClr val="5B6069"/>
                  </a:solidFill>
                  <a:latin typeface="+mn-lt"/>
                  <a:ea typeface="+mn-ea"/>
                  <a:cs typeface="+mn-cs"/>
                </a:rPr>
                <a:t>IR author</a:t>
              </a:r>
            </a:p>
          </p:txBody>
        </p:sp>
        <p:sp>
          <p:nvSpPr>
            <p:cNvPr id="9" name="bar-pptwise"/>
            <p:cNvSpPr/>
            <p:nvPr/>
          </p:nvSpPr>
          <p:spPr>
            <a:xfrm>
              <a:off x="3048000" y="4953000"/>
              <a:ext cx="1143000" cy="381000"/>
            </a:xfrm>
            <a:prstGeom prst="rect">
              <a:avLst/>
            </a:prstGeom>
            <a:solidFill>
              <a:srgbClr val="1E2A4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306318" y="4603432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1C1E23"/>
                  </a:solidFill>
                  <a:latin typeface="+mn-lt"/>
                  <a:ea typeface="+mn-ea"/>
                  <a:cs typeface="+mn-cs"/>
                </a:rPr>
                <a:t>4s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39618" y="5498782"/>
              <a:ext cx="7699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rgbClr val="5B6069"/>
                  </a:solidFill>
                  <a:latin typeface="+mn-lt"/>
                  <a:ea typeface="+mn-ea"/>
                  <a:cs typeface="+mn-cs"/>
                </a:rPr>
                <a:t>pptwise</a:t>
              </a:r>
            </a:p>
          </p:txBody>
        </p:sp>
        <p:sp>
          <p:nvSpPr>
            <p:cNvPr id="12" name="bar-deep"/>
            <p:cNvSpPr/>
            <p:nvPr/>
          </p:nvSpPr>
          <p:spPr>
            <a:xfrm>
              <a:off x="4762500" y="4476750"/>
              <a:ext cx="1143000" cy="857250"/>
            </a:xfrm>
            <a:prstGeom prst="rect">
              <a:avLst/>
            </a:prstGeom>
            <a:solidFill>
              <a:srgbClr val="F5C51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020818" y="4127182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1C1E23"/>
                  </a:solidFill>
                  <a:latin typeface="+mn-lt"/>
                  <a:ea typeface="+mn-ea"/>
                  <a:cs typeface="+mn-cs"/>
                </a:rPr>
                <a:t>9s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4118" y="5498782"/>
              <a:ext cx="12147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rgbClr val="5B6069"/>
                  </a:solidFill>
                  <a:latin typeface="+mn-lt"/>
                  <a:ea typeface="+mn-ea"/>
                  <a:cs typeface="+mn-cs"/>
                </a:rPr>
                <a:t>deep render</a:t>
              </a:r>
            </a:p>
          </p:txBody>
        </p:sp>
        <p:sp>
          <p:nvSpPr>
            <p:cNvPr id="15" name="bar-merge"/>
            <p:cNvSpPr/>
            <p:nvPr/>
          </p:nvSpPr>
          <p:spPr>
            <a:xfrm>
              <a:off x="6477000" y="5238750"/>
              <a:ext cx="1143000" cy="95250"/>
            </a:xfrm>
            <a:prstGeom prst="rect">
              <a:avLst/>
            </a:prstGeom>
            <a:solidFill>
              <a:srgbClr val="1E2A4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35318" y="4889182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1C1E23"/>
                  </a:solidFill>
                  <a:latin typeface="+mn-lt"/>
                  <a:ea typeface="+mn-ea"/>
                  <a:cs typeface="+mn-cs"/>
                </a:rPr>
                <a:t>1s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8618" y="5498782"/>
              <a:ext cx="6463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rgbClr val="5B6069"/>
                  </a:solidFill>
                  <a:latin typeface="+mn-lt"/>
                  <a:ea typeface="+mn-ea"/>
                  <a:cs typeface="+mn-cs"/>
                </a:rPr>
                <a:t>merge</a:t>
              </a:r>
            </a:p>
          </p:txBody>
        </p:sp>
      </p:grpSp>
      <p:grpSp>
        <p:nvGrpSpPr>
          <p:cNvPr id="23" name="summary-card"/>
          <p:cNvGrpSpPr/>
          <p:nvPr/>
        </p:nvGrpSpPr>
        <p:grpSpPr>
          <a:xfrm>
            <a:off x="8953500" y="2857500"/>
            <a:ext cx="2667000" cy="2476500"/>
            <a:chOff x="8953500" y="2857500"/>
            <a:chExt cx="2667000" cy="2476500"/>
          </a:xfrm>
        </p:grpSpPr>
        <p:sp>
          <p:nvSpPr>
            <p:cNvPr id="19" name="Rectangle 19"/>
            <p:cNvSpPr/>
            <p:nvPr/>
          </p:nvSpPr>
          <p:spPr>
            <a:xfrm>
              <a:off x="8953500" y="2857500"/>
              <a:ext cx="2667000" cy="2476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CD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11818" y="3174682"/>
              <a:ext cx="14309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rgbClr val="5B6069"/>
                  </a:solidFill>
                  <a:latin typeface="+mn-lt"/>
                  <a:ea typeface="+mn-ea"/>
                  <a:cs typeface="+mn-cs"/>
                </a:rPr>
                <a:t>Total per deck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01912" y="3840480"/>
              <a:ext cx="84523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rgbClr val="1E2A4A"/>
                  </a:solidFill>
                  <a:latin typeface="+mn-lt"/>
                  <a:ea typeface="+mn-ea"/>
                  <a:cs typeface="+mn-cs"/>
                </a:rPr>
                <a:t>26s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11818" y="4546282"/>
              <a:ext cx="16835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rgbClr val="5B6069"/>
                  </a:solidFill>
                  <a:latin typeface="+mn-lt"/>
                  <a:ea typeface="+mn-ea"/>
                  <a:cs typeface="+mn-cs"/>
                </a:rPr>
                <a:t>measured locally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ing"/>
          <p:cNvGrpSpPr/>
          <p:nvPr/>
        </p:nvGrpSpPr>
        <p:grpSpPr>
          <a:xfrm>
            <a:off x="745998" y="707708"/>
            <a:ext cx="6149621" cy="701992"/>
            <a:chOff x="745998" y="707708"/>
            <a:chExt cx="6149621" cy="701992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707708"/>
              <a:ext cx="61496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rgbClr val="1E2A4A"/>
                  </a:solidFill>
                  <a:latin typeface="+mn-lt"/>
                  <a:ea typeface="+mn-ea"/>
                  <a:cs typeface="+mn-cs"/>
                </a:rPr>
                <a:t>Pages delivered per milestone</a:t>
              </a:r>
            </a:p>
          </p:txBody>
        </p:sp>
        <p:sp>
          <p:nvSpPr>
            <p:cNvPr id="3" name="heading-rule"/>
            <p:cNvSpPr/>
            <p:nvPr/>
          </p:nvSpPr>
          <p:spPr>
            <a:xfrm>
              <a:off x="762000" y="1333500"/>
              <a:ext cx="1143000" cy="76200"/>
            </a:xfrm>
            <a:prstGeom prst="rect">
              <a:avLst/>
            </a:prstGeom>
            <a:solidFill>
              <a:srgbClr val="F5C518"/>
            </a:solidFill>
            <a:ln>
              <a:noFill/>
            </a:ln>
          </p:spPr>
        </p:sp>
      </p:grpSp>
      <p:graphicFrame>
        <p:nvGraphicFramePr>
          <p:cNvPr id="5" name="milestone-chart"/>
          <p:cNvGraphicFramePr>
            <a:graphicFrameLocks noGrp="1"/>
          </p:cNvGraphicFramePr>
          <p:nvPr/>
        </p:nvGraphicFramePr>
        <p:xfrm>
          <a:off x="952500" y="2095500"/>
          <a:ext cx="1028700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ing"/>
          <p:cNvGrpSpPr/>
          <p:nvPr/>
        </p:nvGrpSpPr>
        <p:grpSpPr>
          <a:xfrm>
            <a:off x="745998" y="707708"/>
            <a:ext cx="6690106" cy="701992"/>
            <a:chOff x="745998" y="707708"/>
            <a:chExt cx="6690106" cy="701992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707708"/>
              <a:ext cx="66901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rgbClr val="1E2A4A"/>
                  </a:solidFill>
                  <a:latin typeface="+mn-lt"/>
                  <a:ea typeface="+mn-ea"/>
                  <a:cs typeface="+mn-cs"/>
                </a:rPr>
                <a:t>Which engine owns which object</a:t>
              </a:r>
            </a:p>
          </p:txBody>
        </p:sp>
        <p:sp>
          <p:nvSpPr>
            <p:cNvPr id="3" name="heading-rule"/>
            <p:cNvSpPr/>
            <p:nvPr/>
          </p:nvSpPr>
          <p:spPr>
            <a:xfrm>
              <a:off x="762000" y="1333500"/>
              <a:ext cx="1143000" cy="76200"/>
            </a:xfrm>
            <a:prstGeom prst="rect">
              <a:avLst/>
            </a:prstGeom>
            <a:solidFill>
              <a:srgbClr val="F5C518"/>
            </a:solidFill>
            <a:ln>
              <a:noFill/>
            </a:ln>
          </p:spPr>
        </p:sp>
      </p:grpSp>
      <p:graphicFrame>
        <p:nvGraphicFramePr>
          <p:cNvPr id="5" name="engine-table"/>
          <p:cNvGraphicFramePr>
            <a:graphicFrameLocks noGrp="1"/>
          </p:cNvGraphicFramePr>
          <p:nvPr/>
        </p:nvGraphicFramePr>
        <p:xfrm>
          <a:off x="762000" y="2095500"/>
          <a:ext cx="10668000" cy="17145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810000"/>
                <a:gridCol w="4191000"/>
                <a:gridCol w="2667000"/>
              </a:tblGrid>
              <a:tr h="571500">
                <a:tc>
                  <a:txBody>
                    <a:bodyPr/>
                    <a:lstStyle/>
                    <a:p>
                      <a:pPr/>
                      <a:r>
                        <a:rPr lang="en" sz="980" b="1">
                          <a:solidFill>
                            <a:srgbClr val="475569"/>
                          </a:solidFill>
                          <a:latin typeface="Arial"/>
                          <a:ea typeface="Microsoft YaHei"/>
                          <a:cs typeface="Arial"/>
                        </a:rPr>
                        <a:t>Capability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" sz="980" b="1">
                          <a:solidFill>
                            <a:srgbClr val="475569"/>
                          </a:solidFill>
                          <a:latin typeface="Arial"/>
                          <a:ea typeface="Microsoft YaHei"/>
                          <a:cs typeface="Arial"/>
                        </a:rPr>
                        <a:t>Engine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" sz="980" b="1">
                          <a:solidFill>
                            <a:srgbClr val="475569"/>
                          </a:solidFill>
                          <a:latin typeface="Arial"/>
                          <a:ea typeface="Microsoft YaHei"/>
                          <a:cs typeface="Arial"/>
                        </a:rPr>
                        <a:t>Native object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/>
                      <a:r>
                        <a:rPr lang="en" sz="1120" b="0">
                          <a:solidFill>
                            <a:srgbClr val="0F172A"/>
                          </a:solidFill>
                          <a:latin typeface="Arial"/>
                          <a:ea typeface="Microsoft YaHei"/>
                          <a:cs typeface="Arial"/>
                        </a:rPr>
                        <a:t>Charts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" sz="1120" b="0">
                          <a:solidFill>
                            <a:srgbClr val="0F172A"/>
                          </a:solidFill>
                          <a:latin typeface="Arial"/>
                          <a:ea typeface="Microsoft YaHei"/>
                          <a:cs typeface="Arial"/>
                        </a:rPr>
                        <a:t>ppt-master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" sz="1120" b="0">
                          <a:solidFill>
                            <a:srgbClr val="0F172A"/>
                          </a:solidFill>
                          <a:latin typeface="Arial"/>
                          <a:ea typeface="Microsoft YaHei"/>
                          <a:cs typeface="Arial"/>
                        </a:rPr>
                        <a:t>chartSpace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/>
                      <a:r>
                        <a:rPr lang="en" sz="1120" b="0">
                          <a:solidFill>
                            <a:srgbClr val="0F172A"/>
                          </a:solidFill>
                          <a:latin typeface="Arial"/>
                          <a:ea typeface="Microsoft YaHei"/>
                          <a:cs typeface="Arial"/>
                        </a:rPr>
                        <a:t>Tables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" sz="1120" b="0">
                          <a:solidFill>
                            <a:srgbClr val="0F172A"/>
                          </a:solidFill>
                          <a:latin typeface="Arial"/>
                          <a:ea typeface="Microsoft YaHei"/>
                          <a:cs typeface="Arial"/>
                        </a:rPr>
                        <a:t>ppt-master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" sz="1120" b="0">
                          <a:solidFill>
                            <a:srgbClr val="0F172A"/>
                          </a:solidFill>
                          <a:latin typeface="Arial"/>
                          <a:ea typeface="Microsoft YaHei"/>
                          <a:cs typeface="Arial"/>
                        </a:rPr>
                        <a:t>graphicFrame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aster-hello">
  <a:themeElements>
    <a:clrScheme name="master-hell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aster-hello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ster-hel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2026-09-22T05:22:37Z</dcterms:created>
  <dcterms:modified xsi:type="dcterms:W3CDTF">2026-09-22T05:22:37Z</dcterms:modified>
  <cp:category/>
  <cp:contentStatus/>
</cp:coreProperties>
</file>