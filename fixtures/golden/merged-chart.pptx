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embeddings/Microsoft_Excel_Sheet1.xlsx" ContentType="application/vnd.openxmlformats-officedocument.spreadsheetml.sheet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Deck pages</c:v>
                </c:pt>
              </c:strCache>
            </c:strRef>
          </c:tx>
          <c:spPr>
            <a:solidFill>
              <a:srgbClr val="1E2A4A"/>
            </a:solidFill>
            <a:ln>
              <a:solidFill>
                <a:srgbClr val="1E2A4A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M0</c:v>
                </c:pt>
                <c:pt idx="1">
                  <c:v>M1</c:v>
                </c:pt>
                <c:pt idx="2">
                  <c:v>M4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12</c:v>
                </c:pt>
                <c:pt idx="2">
                  <c:v>30</c:v>
                </c:pt>
                <c:pt idx="3">
                  <c:v>60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5B6069"/>
            </a:solidFill>
            <a:round/>
          </a:ln>
        </c:spPr>
        <c:txPr>
          <a:bodyPr/>
          <a:lstStyle/>
          <a:p>
            <a:pPr>
              <a:defRPr lang="en" sz="1650">
                <a:solidFill>
                  <a:srgbClr val="5B6069"/>
                </a:solidFill>
                <a:latin typeface="Arial"/>
                <a:ea typeface="Microsoft YaHei"/>
                <a:cs typeface="Arial"/>
              </a:defRPr>
            </a:pPr>
            <a:endParaRPr lang="e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5B6069"/>
            </a:solidFill>
            <a:round/>
          </a:ln>
        </c:spPr>
        <c:txPr>
          <a:bodyPr/>
          <a:lstStyle/>
          <a:p>
            <a:pPr>
              <a:defRPr lang="en" sz="1650">
                <a:solidFill>
                  <a:srgbClr val="5B6069"/>
                </a:solidFill>
                <a:latin typeface="Arial"/>
                <a:ea typeface="Microsoft YaHei"/>
                <a:cs typeface="Arial"/>
              </a:defRPr>
            </a:pPr>
            <a:endParaRPr lang="en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en" sz="1650">
          <a:solidFill>
            <a:srgbClr val="5B6069"/>
          </a:solidFill>
          <a:latin typeface="Arial"/>
          <a:ea typeface="Microsoft YaHei"/>
          <a:cs typeface="Arial"/>
        </a:defRPr>
      </a:pPr>
      <a:endParaRPr lang="e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91643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594610"/>
            <a:ext cx="106680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524000" y="4114800"/>
            <a:ext cx="4800600" cy="76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518660"/>
            <a:ext cx="10668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 front end + ppt-master deep engine, one deck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D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Why fuse the two engines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pptwise: DSH-native shell, IR v5, themes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pptwise: geometry and contrast audit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ppt-master: native charts, tables, formulas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080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ppt-master: animation and narration timelines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081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This page is a standard page, made by pptwise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667250"/>
            <a:ext cx="8382000" cy="952500"/>
          </a:xfrm>
          <a:prstGeom prst="roundRect">
            <a:avLst>
              <a:gd name="adj" fmla="val 2000"/>
            </a:avLst>
          </a:prstGeom>
          <a:solidFill>
            <a:srgbClr val="EBEAE7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2363" y="4884738"/>
            <a:ext cx="174625" cy="174625"/>
          </a:xfrm>
          <a:prstGeom prst="ellipse">
            <a:avLst/>
          </a:prstGeom>
          <a:noFill/>
          <a:ln w="17463">
            <a:solidFill>
              <a:srgbClr val="1E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9675" y="4972050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34925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1E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09675" y="4937125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1E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47800" y="486537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Pages 3 and 4 of this fixture are routed to the deep engine 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47800" y="5189220"/>
            <a:ext cx="1074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the fusion build; this M0 copy renders all five with pptwise.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5B6069">
                    <a:alpha val="30000"/>
                  </a:srgbClr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6149621" cy="701992"/>
            <a:chOff x="745998" y="707708"/>
            <a:chExt cx="6149621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61496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Pages delivered per milestone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aphicFrame>
        <p:nvGraphicFramePr>
          <p:cNvPr id="5" name="milestone-chart"/>
          <p:cNvGraphicFramePr>
            <a:graphicFrameLocks noGrp="1"/>
          </p:cNvGraphicFramePr>
          <p:nvPr/>
        </p:nvGraphicFramePr>
        <p:xfrm>
          <a:off x="952500" y="2095500"/>
          <a:ext cx="1028700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4000" y="1809750"/>
            <a:ext cx="9144000" cy="3048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4000" y="1809750"/>
            <a:ext cx="9144000" cy="762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7" name="Text 5"/>
          <p:cNvSpPr/>
          <p:nvPr/>
        </p:nvSpPr>
        <p:spPr>
          <a:xfrm>
            <a:off x="2133600" y="2659380"/>
            <a:ext cx="100584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依据 04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133600" y="3257550"/>
            <a:ext cx="10058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25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Engine split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2133600" y="3657600"/>
            <a:ext cx="10058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25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(fallback: pptwise)</a:t>
            </a:r>
            <a:endParaRPr lang="en-US" sz="2625" dirty="0"/>
          </a:p>
        </p:txBody>
      </p:sp>
      <p:sp>
        <p:nvSpPr>
          <p:cNvPr id="10" name="Shape 8"/>
          <p:cNvSpPr/>
          <p:nvPr/>
        </p:nvSpPr>
        <p:spPr>
          <a:xfrm>
            <a:off x="5715000" y="3137535"/>
            <a:ext cx="4572000" cy="419100"/>
          </a:xfrm>
          <a:prstGeom prst="rect">
            <a:avLst/>
          </a:prstGeom>
          <a:solidFill>
            <a:srgbClr val="FDF6DA"/>
          </a:solidFill>
          <a:ln/>
        </p:spPr>
      </p:sp>
      <p:sp>
        <p:nvSpPr>
          <p:cNvPr id="11" name="Text 9"/>
          <p:cNvSpPr/>
          <p:nvPr/>
        </p:nvSpPr>
        <p:spPr>
          <a:xfrm>
            <a:off x="5829300" y="2428875"/>
            <a:ext cx="6362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Capability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32034" y="2428875"/>
            <a:ext cx="425996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28467" y="2428875"/>
            <a:ext cx="476353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Native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715000" y="2718435"/>
            <a:ext cx="4572000" cy="0"/>
          </a:xfrm>
          <a:prstGeom prst="line">
            <a:avLst/>
          </a:prstGeom>
          <a:noFill/>
          <a:ln w="19050">
            <a:solidFill>
              <a:srgbClr val="1C1E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0" y="31375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15000" y="35566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39757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4394835"/>
            <a:ext cx="457200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29300" y="28632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Bullets, cards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32034" y="28632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28467" y="28632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29300" y="32823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Charts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32034" y="32823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28467" y="32823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29300" y="37014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Tables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32034" y="37014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28467" y="37014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29300" y="4120515"/>
            <a:ext cx="636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Formulas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32034" y="4120515"/>
            <a:ext cx="425996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28467" y="4120515"/>
            <a:ext cx="47635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yes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7830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628900"/>
            <a:ext cx="1066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9300" y="2506980"/>
            <a:ext cx="101727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Next: M0 acceptance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019300" y="2914650"/>
            <a:ext cx="2400300" cy="5715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5715000"/>
            <a:ext cx="923925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59359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validate / render / audit / preview all green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