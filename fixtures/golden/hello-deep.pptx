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Default Extension="mp3" ContentType="audio/m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1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p14="http://schemas.microsoft.com/office/powerpoint/2010/main">
  <p:showPr useTimings="1"/>
  <p:extLst>
    <p:ext uri="{E76CE94A-603C-4142-B9EB-6D1370010A27}">
      <p14:discardImageEditData val="0"/>
    </p:ext>
    <p:ext uri="{D31A062A-798A-4329-ABDD-BBA856620510}">
      <p14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
</Relationships>
</file>

<file path=ppt/charts/_rels/chart1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01.xlsx"/>
</Relationships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Deck pages</c:v>
                </c:pt>
              </c:strCache>
            </c:strRef>
          </c:tx>
          <c:spPr>
            <a:solidFill>
              <a:srgbClr val="1E2A4A"/>
            </a:solidFill>
            <a:ln>
              <a:solidFill>
                <a:srgbClr val="1E2A4A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M0</c:v>
                </c:pt>
                <c:pt idx="1">
                  <c:v>M1</c:v>
                </c:pt>
                <c:pt idx="2">
                  <c:v>M4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12</c:v>
                </c:pt>
                <c:pt idx="2">
                  <c:v>30</c:v>
                </c:pt>
                <c:pt idx="3">
                  <c:v>60</c:v>
                </c:pt>
              </c:numCache>
            </c:numRef>
          </c:val>
        </c:ser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5B6069"/>
            </a:solidFill>
            <a:round/>
          </a:ln>
        </c:spPr>
        <c:txPr>
          <a:bodyPr/>
          <a:lstStyle/>
          <a:p>
            <a:pPr>
              <a:defRPr lang="en" sz="1650">
                <a:solidFill>
                  <a:srgbClr val="5B6069"/>
                </a:solidFill>
                <a:latin typeface="Arial"/>
                <a:ea typeface="Microsoft YaHei"/>
                <a:cs typeface="Arial"/>
              </a:defRPr>
            </a:pPr>
            <a:endParaRPr lang="e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9DED8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5B6069"/>
            </a:solidFill>
            <a:round/>
          </a:ln>
        </c:spPr>
        <c:txPr>
          <a:bodyPr/>
          <a:lstStyle/>
          <a:p>
            <a:pPr>
              <a:defRPr lang="en" sz="1650">
                <a:solidFill>
                  <a:srgbClr val="5B6069"/>
                </a:solidFill>
                <a:latin typeface="Arial"/>
                <a:ea typeface="Microsoft YaHei"/>
                <a:cs typeface="Arial"/>
              </a:defRPr>
            </a:pPr>
            <a:endParaRPr lang="en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en" sz="1650">
          <a:solidFill>
            <a:srgbClr val="5B6069"/>
          </a:solidFill>
          <a:latin typeface="Arial"/>
          <a:ea typeface="Microsoft YaHei"/>
          <a:cs typeface="Arial"/>
        </a:defRPr>
      </a:pPr>
      <a:endParaRPr lang="e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" dirty="0"/>
              <a:t>Native chart page</a:t>
            </a:r>
          </a:p>
          <a:p>
            <a:pPr/>
            <a:endParaRPr lang="en" dirty="0"/>
          </a:p>
          <a:p>
            <a:pPr/>
            <a:r>
              <a:rPr lang="en" dirty="0"/>
              <a:t>This page is rendered by the deep engine. The bar chart is a native, editable PowerPoint chart, not a picture.</a:t>
            </a:r>
          </a:p>
          <a:p>
            <a:pPr/>
            <a:endParaRPr lang="en" dirty="0"/>
          </a:p>
          <a:p>
            <a:pPr/>
            <a:r>
              <a:rPr lang="en" dirty="0"/>
              <a:t>Rendering took twelve seconds for the IR, four seconds for pptwise, nine for the deep engine, and one second for the merge.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" dirty="0"/>
              <a:t>Native table page</a:t>
            </a:r>
          </a:p>
          <a:p>
            <a:pPr/>
            <a:endParaRPr lang="en" dirty="0"/>
          </a:p>
          <a:p>
            <a:pPr/>
            <a:r>
              <a:rPr lang="en" dirty="0"/>
              <a:t>The table compares what each engine owns. pptwise handles bullets and cards, while ppt-master handles charts, tables and formulas.</a:t>
            </a:r>
          </a:p>
          <a:p>
            <a:pPr/>
            <a:endParaRPr lang="en" dirty="0"/>
          </a:p>
          <a:p>
            <a:pPr/>
            <a:r>
              <a:rPr lang="en" dirty="0"/>
              <a:t>Only the deep engine output stays editable as native objects.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ep-p03-p0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ep-p03-p0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chart" Target="../charts/chart101.xml"/>
  <Relationship Id="rId3" Type="http://schemas.openxmlformats.org/officeDocument/2006/relationships/notesSlide" Target="../notesSlides/notesSlide1.xml"/>
  <Relationship Id="rId4" Type="http://schemas.microsoft.com/office/2007/relationships/media" Target="../media/narration1.mp3"/>
  <Relationship Id="rId5" Type="http://schemas.openxmlformats.org/officeDocument/2006/relationships/audio" Target="../media/narration1.mp3"/>
  <Relationship Id="rId6" Type="http://schemas.openxmlformats.org/officeDocument/2006/relationships/image" Target="../media/narration_poster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  <Relationship Id="rId3" Type="http://schemas.microsoft.com/office/2007/relationships/media" Target="../media/narration2.mp3"/>
  <Relationship Id="rId4" Type="http://schemas.openxmlformats.org/officeDocument/2006/relationships/audio" Target="../media/narration2.mp3"/>
  <Relationship Id="rId5" Type="http://schemas.openxmlformats.org/officeDocument/2006/relationships/image" Target="../media/narration_poster.png"/>
</Relationships>
</file>

<file path=ppt/slides/slide1.xml><?xml version="1.0" encoding="utf-8"?>
<p:sld xmlns:a="http://schemas.openxmlformats.org/drawingml/2006/main" xmlns:c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ing"/>
          <p:cNvGrpSpPr/>
          <p:nvPr/>
        </p:nvGrpSpPr>
        <p:grpSpPr>
          <a:xfrm>
            <a:off x="745998" y="707708"/>
            <a:ext cx="6149621" cy="701992"/>
            <a:chOff x="745998" y="707708"/>
            <a:chExt cx="6149621" cy="701992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07708"/>
              <a:ext cx="61496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Pages delivered per milestone</a:t>
              </a:r>
            </a:p>
          </p:txBody>
        </p:sp>
        <p:sp>
          <p:nvSpPr>
            <p:cNvPr id="3" name="heading-rule"/>
            <p:cNvSpPr/>
            <p:nvPr/>
          </p:nvSpPr>
          <p:spPr>
            <a:xfrm>
              <a:off x="762000" y="1333500"/>
              <a:ext cx="1143000" cy="76200"/>
            </a:xfrm>
            <a:prstGeom prst="rect">
              <a:avLst/>
            </a:prstGeom>
            <a:solidFill>
              <a:srgbClr val="F5C518"/>
            </a:solidFill>
            <a:ln>
              <a:noFill/>
            </a:ln>
          </p:spPr>
        </p:sp>
      </p:grpSp>
      <p:graphicFrame>
        <p:nvGraphicFramePr>
          <p:cNvPr id="5" name="milestone-chart"/>
          <p:cNvGraphicFramePr>
            <a:graphicFrameLocks noGrp="1"/>
          </p:cNvGraphicFramePr>
          <p:nvPr/>
        </p:nvGraphicFramePr>
        <p:xfrm>
          <a:off x="952500" y="2095500"/>
          <a:ext cx="10287000" cy="3429000"/>
        </p:xfrm>
        <a:graphic>
          <a:graphicData uri="http://schemas.openxmlformats.org/drawingml/2006/chart">
            <c:chart r:id="rId2"/>
          </a:graphicData>
        </a:graphic>
      </p:graphicFrame>
      <p:pic>
        <p:nvPicPr>
          <p:cNvPr id="6" name="PPT Master narration: narration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16500">
    <p:fad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400"/>
                  </p:st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ing"/>
          <p:cNvGrpSpPr/>
          <p:nvPr/>
        </p:nvGrpSpPr>
        <p:grpSpPr>
          <a:xfrm>
            <a:off x="745998" y="707708"/>
            <a:ext cx="6690106" cy="701992"/>
            <a:chOff x="745998" y="707708"/>
            <a:chExt cx="6690106" cy="701992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07708"/>
              <a:ext cx="66901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Which engine owns which object</a:t>
              </a:r>
            </a:p>
          </p:txBody>
        </p:sp>
        <p:sp>
          <p:nvSpPr>
            <p:cNvPr id="3" name="heading-rule"/>
            <p:cNvSpPr/>
            <p:nvPr/>
          </p:nvSpPr>
          <p:spPr>
            <a:xfrm>
              <a:off x="762000" y="1333500"/>
              <a:ext cx="1143000" cy="76200"/>
            </a:xfrm>
            <a:prstGeom prst="rect">
              <a:avLst/>
            </a:prstGeom>
            <a:solidFill>
              <a:srgbClr val="F5C518"/>
            </a:solidFill>
            <a:ln>
              <a:noFill/>
            </a:ln>
          </p:spPr>
        </p:sp>
      </p:grpSp>
      <p:graphicFrame>
        <p:nvGraphicFramePr>
          <p:cNvPr id="5" name="engine-table"/>
          <p:cNvGraphicFramePr>
            <a:graphicFrameLocks noGrp="1"/>
          </p:cNvGraphicFramePr>
          <p:nvPr/>
        </p:nvGraphicFramePr>
        <p:xfrm>
          <a:off x="762000" y="2095500"/>
          <a:ext cx="10668000" cy="1714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10000"/>
                <a:gridCol w="4191000"/>
                <a:gridCol w="2667000"/>
              </a:tblGrid>
              <a:tr h="571500">
                <a:tc>
                  <a:txBody>
                    <a:bodyPr/>
                    <a:lstStyle/>
                    <a:p>
                      <a:pPr/>
                      <a:r>
                        <a:rPr lang="en" sz="980" b="1">
                          <a:solidFill>
                            <a:srgbClr val="5B6069"/>
                          </a:solidFill>
                          <a:latin typeface="Arial"/>
                          <a:ea typeface="Microsoft YaHei"/>
                          <a:cs typeface="Arial"/>
                        </a:rPr>
                        <a:t>Capability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980" b="1">
                          <a:solidFill>
                            <a:srgbClr val="5B6069"/>
                          </a:solidFill>
                          <a:latin typeface="Arial"/>
                          <a:ea typeface="Microsoft YaHei"/>
                          <a:cs typeface="Arial"/>
                        </a:rPr>
                        <a:t>Engine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980" b="1">
                          <a:solidFill>
                            <a:srgbClr val="5B6069"/>
                          </a:solidFill>
                          <a:latin typeface="Arial"/>
                          <a:ea typeface="Microsoft YaHei"/>
                          <a:cs typeface="Arial"/>
                        </a:rPr>
                        <a:t>Native object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1C1E23"/>
                          </a:solidFill>
                          <a:latin typeface="Arial"/>
                          <a:ea typeface="Microsoft YaHei"/>
                          <a:cs typeface="Arial"/>
                        </a:rPr>
                        <a:t>Charts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1C1E23"/>
                          </a:solidFill>
                          <a:latin typeface="Arial"/>
                          <a:ea typeface="Microsoft YaHei"/>
                          <a:cs typeface="Arial"/>
                        </a:rPr>
                        <a:t>ppt-master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1C1E23"/>
                          </a:solidFill>
                          <a:latin typeface="Arial"/>
                          <a:ea typeface="Microsoft YaHei"/>
                          <a:cs typeface="Arial"/>
                        </a:rPr>
                        <a:t>chartSpace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1C1E23"/>
                          </a:solidFill>
                          <a:latin typeface="Arial"/>
                          <a:ea typeface="Microsoft YaHei"/>
                          <a:cs typeface="Arial"/>
                        </a:rPr>
                        <a:t>Tables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1C1E23"/>
                          </a:solidFill>
                          <a:latin typeface="Arial"/>
                          <a:ea typeface="Microsoft YaHei"/>
                          <a:cs typeface="Arial"/>
                        </a:rPr>
                        <a:t>ppt-master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1C1E23"/>
                          </a:solidFill>
                          <a:latin typeface="Arial"/>
                          <a:ea typeface="Microsoft YaHei"/>
                          <a:cs typeface="Arial"/>
                        </a:rPr>
                        <a:t>graphicFrame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PT Master narration: narration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14600">
    <p:fad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400"/>
                  </p:st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deep-p03-p04">
  <a:themeElements>
    <a:clrScheme name="deep-p03-p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ep-p03-p04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ep-p03-p0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eep-p03-p04">
  <a:themeElements>
    <a:clrScheme name="deep-p03-p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ep-p03-p04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ep-p03-p0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2026-10-08T05:56:44Z</dcterms:created>
  <dcterms:modified xsi:type="dcterms:W3CDTF">2026-10-08T05:56:44Z</dcterms:modified>
  <cp:category/>
  <cp:contentStatus/>
</cp:coreProperties>
</file>