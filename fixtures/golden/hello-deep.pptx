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Default Extension="xlsx" ContentType="application/vnd.openxmlformats-officedocument.spreadsheetml.sheet"/>
  <Default Extension="mp3" ContentType="audio/m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charts/chart101.xml" ContentType="application/vnd.openxmlformats-officedocument.drawingml.chart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</p:sldIdLst>
  <p:sldSz cx="12192000" cy="6858000" type="screen16x9"/>
  <p:notesSz cx="6858000" cy="9144000"/>
  <p:defaultTextStyle>
    <a:defPPr>
      <a:defRPr lang="en"/>
    </a:defPPr>
    <a:lvl1pPr marL="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 xmlns:p14="http://schemas.microsoft.com/office/powerpoint/2010/main">
  <p:showPr useTimings="1"/>
  <p:extLst>
    <p:ext uri="{E76CE94A-603C-4142-B9EB-6D1370010A27}">
      <p14:discardImageEditData val="0"/>
    </p:ext>
    <p:ext uri="{D31A062A-798A-4329-ABDD-BBA856620510}">
      <p14:defaultImageDpi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  <Relationship Id="rId9" Type="http://schemas.openxmlformats.org/officeDocument/2006/relationships/notesMaster" Target="notesMasters/notesMaster1.xml"/>
</Relationships>
</file>

<file path=ppt/charts/_rels/chart101.xml.rels><?xml version="1.0" encoding="UTF-8" standalone="yes"?>
<Relationships xmlns="http://schemas.openxmlformats.org/package/2006/relationships">
<Relationship Id="rId1" Type="http://schemas.openxmlformats.org/officeDocument/2006/relationships/package" Target="../embeddings/Microsoft_Excel_Sheet101.xlsx"/>
</Relationships>
</file>

<file path=ppt/charts/chart10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Deck pages</c:v>
                </c:pt>
              </c:strCache>
            </c:strRef>
          </c:tx>
          <c:spPr>
            <a:solidFill>
              <a:srgbClr val="1E2A4A"/>
            </a:solidFill>
            <a:ln>
              <a:solidFill>
                <a:srgbClr val="1E2A4A"/>
              </a:solidFill>
            </a:ln>
          </c:spPr>
          <c:invertIfNegative val="0"/>
          <c:cat>
            <c:strRef>
              <c:f>Sheet1!$A$2:$A$5</c:f>
              <c:strCache>
                <c:ptCount val="4"/>
                <c:pt idx="0">
                  <c:v>M0</c:v>
                </c:pt>
                <c:pt idx="1">
                  <c:v>M1</c:v>
                </c:pt>
                <c:pt idx="2">
                  <c:v>M4</c:v>
                </c:pt>
                <c:pt idx="3">
                  <c:v>M9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</c:v>
                </c:pt>
                <c:pt idx="1">
                  <c:v>12</c:v>
                </c:pt>
                <c:pt idx="2">
                  <c:v>30</c:v>
                </c:pt>
                <c:pt idx="3">
                  <c:v>60</c:v>
                </c:pt>
              </c:numCache>
            </c:numRef>
          </c:val>
        </c:ser>
        <c:gapWidth val="15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5B6069"/>
            </a:solidFill>
            <a:round/>
          </a:ln>
        </c:spPr>
        <c:txPr>
          <a:bodyPr/>
          <a:lstStyle/>
          <a:p>
            <a:pPr>
              <a:defRPr lang="en" sz="1650">
                <a:solidFill>
                  <a:srgbClr val="5B6069"/>
                </a:solidFill>
                <a:latin typeface="Arial"/>
                <a:ea typeface="Microsoft YaHei"/>
                <a:cs typeface="Arial"/>
              </a:defRPr>
            </a:pPr>
            <a:endParaRPr lang="en"/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D9DED8"/>
              </a:solidFill>
              <a:round/>
            </a:ln>
          </c:spPr>
        </c:majorGridlines>
        <c:majorTickMark val="none"/>
        <c:minorTickMark val="none"/>
        <c:tickLblPos val="nextTo"/>
        <c:spPr>
          <a:ln w="9525" cap="flat" cmpd="sng" algn="ctr">
            <a:solidFill>
              <a:srgbClr val="5B6069"/>
            </a:solidFill>
            <a:round/>
          </a:ln>
        </c:spPr>
        <c:txPr>
          <a:bodyPr/>
          <a:lstStyle/>
          <a:p>
            <a:pPr>
              <a:defRPr lang="en" sz="1650">
                <a:solidFill>
                  <a:srgbClr val="5B6069"/>
                </a:solidFill>
                <a:latin typeface="Arial"/>
                <a:ea typeface="Microsoft YaHei"/>
                <a:cs typeface="Arial"/>
              </a:defRPr>
            </a:pPr>
            <a:endParaRPr lang="en"/>
          </a:p>
        </c:txPr>
        <c:crossAx val="2068027336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lang="en" sz="1650">
          <a:solidFill>
            <a:srgbClr val="5B6069"/>
          </a:solidFill>
          <a:latin typeface="Arial"/>
          <a:ea typeface="Microsoft YaHei"/>
          <a:cs typeface="Arial"/>
        </a:defRPr>
      </a:pPr>
      <a:endParaRPr lang="en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
  <Relationship Id="rId1" Type="http://schemas.openxmlformats.org/officeDocument/2006/relationships/theme" Target="../theme/theme2.xml"/>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e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e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e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e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e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en"/>
    </a:lvl1pPr>
  </p:notesStyle>
</p:notesMaster>
</file>

<file path=ppt/notesSlides/_rels/notesSlide1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.xml"/>
</Relationships>
</file>

<file path=ppt/notesSlides/_rels/notesSlide2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2.xml"/>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en" dirty="0"/>
              <a:t>Native chart page</a:t>
            </a:r>
          </a:p>
          <a:p>
            <a:pPr/>
            <a:endParaRPr lang="en" dirty="0"/>
          </a:p>
          <a:p>
            <a:pPr/>
            <a:r>
              <a:rPr lang="en" dirty="0"/>
              <a:t>This page is rendered by the deep engine. The bar chart is a native, editable PowerPoint chart, not a picture.</a:t>
            </a:r>
          </a:p>
          <a:p>
            <a:pPr/>
            <a:endParaRPr lang="en" dirty="0"/>
          </a:p>
          <a:p>
            <a:pPr/>
            <a:r>
              <a:rPr lang="en" dirty="0"/>
              <a:t>Rendering took twelve seconds for the IR, four seconds for pptwise, nine for the deep engine, and one second for the merge.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en" dirty="0"/>
              <a:t>Native table page</a:t>
            </a:r>
          </a:p>
          <a:p>
            <a:pPr/>
            <a:endParaRPr lang="en" dirty="0"/>
          </a:p>
          <a:p>
            <a:pPr/>
            <a:r>
              <a:rPr lang="en" dirty="0"/>
              <a:t>The table compares what each engine owns. pptwise handles bullets and cards, while ppt-master handles charts, tables and formulas.</a:t>
            </a:r>
          </a:p>
          <a:p>
            <a:pPr/>
            <a:endParaRPr lang="en" dirty="0"/>
          </a:p>
          <a:p>
            <a:pPr/>
            <a:r>
              <a:rPr lang="en" dirty="0"/>
              <a:t>Only the deep engine output stays editable as native objects.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deep-p03-p04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" smtClean="0"/>
              <a:t>1/27/13</a:t>
            </a:fld>
            <a:endParaRPr lang="e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" smtClean="0"/>
              <a:t>‹#›</a:t>
            </a:fld>
            <a:endParaRPr lang="en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deep-p03-p04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e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" smtClean="0"/>
              <a:t>1/27/13</a:t>
            </a:fld>
            <a:endParaRPr lang="e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e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e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" smtClean="0"/>
              <a:t>‹#›</a:t>
            </a:fld>
            <a:endParaRPr lang="e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lang="e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 lang="e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 lang="e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 lang="e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 lang="e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 lang="e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e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e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e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e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"/>
      </a:defPPr>
      <a:lvl1pPr marL="0" algn="l" defTabSz="457200" rtl="0" eaLnBrk="1" latinLnBrk="0" hangingPunct="1">
        <a:defRPr sz="1800" kern="1200" lang="e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 lang="e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 lang="e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 lang="e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 lang="e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 lang="e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 lang="e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 lang="e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 lang="e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chart" Target="../charts/chart101.xml"/>
  <Relationship Id="rId3" Type="http://schemas.openxmlformats.org/officeDocument/2006/relationships/notesSlide" Target="../notesSlides/notesSlide1.xml"/>
  <Relationship Id="rId4" Type="http://schemas.microsoft.com/office/2007/relationships/media" Target="../media/narration1.mp3"/>
  <Relationship Id="rId5" Type="http://schemas.openxmlformats.org/officeDocument/2006/relationships/audio" Target="../media/narration1.mp3"/>
  <Relationship Id="rId6" Type="http://schemas.openxmlformats.org/officeDocument/2006/relationships/image" Target="../media/narration_poster.png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2.xml"/>
  <Relationship Id="rId3" Type="http://schemas.microsoft.com/office/2007/relationships/media" Target="../media/narration2.mp3"/>
  <Relationship Id="rId4" Type="http://schemas.openxmlformats.org/officeDocument/2006/relationships/audio" Target="../media/narration2.mp3"/>
  <Relationship Id="rId5" Type="http://schemas.openxmlformats.org/officeDocument/2006/relationships/image" Target="../media/narration_poster.png"/>
</Relationships>
</file>

<file path=ppt/slides/slide1.xml><?xml version="1.0" encoding="utf-8"?>
<p:sld xmlns:a="http://schemas.openxmlformats.org/drawingml/2006/main" xmlns:c="http://schemas.openxmlformats.org/drawingml/2006/chart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age-heading"/>
          <p:cNvGrpSpPr/>
          <p:nvPr/>
        </p:nvGrpSpPr>
        <p:grpSpPr>
          <a:xfrm>
            <a:off x="745998" y="707708"/>
            <a:ext cx="6149621" cy="701992"/>
            <a:chOff x="745998" y="707708"/>
            <a:chExt cx="6149621" cy="701992"/>
          </a:xfrm>
        </p:grpSpPr>
        <p:sp>
          <p:nvSpPr>
            <p:cNvPr id="2" name="TextBox 2"/>
            <p:cNvSpPr txBox="1"/>
            <p:nvPr/>
          </p:nvSpPr>
          <p:spPr>
            <a:xfrm>
              <a:off x="745998" y="707708"/>
              <a:ext cx="6149621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3150" b="1" dirty="0">
                  <a:solidFill>
                    <a:srgbClr val="1E2A4A"/>
                  </a:solidFill>
                  <a:latin typeface="+mn-lt"/>
                  <a:ea typeface="+mn-ea"/>
                  <a:cs typeface="+mn-cs"/>
                </a:rPr>
                <a:t>Pages delivered per milestone</a:t>
              </a:r>
            </a:p>
          </p:txBody>
        </p:sp>
        <p:sp>
          <p:nvSpPr>
            <p:cNvPr id="3" name="heading-rule"/>
            <p:cNvSpPr/>
            <p:nvPr/>
          </p:nvSpPr>
          <p:spPr>
            <a:xfrm>
              <a:off x="762000" y="1333500"/>
              <a:ext cx="1143000" cy="76200"/>
            </a:xfrm>
            <a:prstGeom prst="rect">
              <a:avLst/>
            </a:prstGeom>
            <a:solidFill>
              <a:srgbClr val="F5C518"/>
            </a:solidFill>
            <a:ln>
              <a:noFill/>
            </a:ln>
          </p:spPr>
        </p:sp>
      </p:grpSp>
      <p:graphicFrame>
        <p:nvGraphicFramePr>
          <p:cNvPr id="5" name="milestone-chart"/>
          <p:cNvGraphicFramePr>
            <a:graphicFrameLocks noGrp="1"/>
          </p:cNvGraphicFramePr>
          <p:nvPr/>
        </p:nvGraphicFramePr>
        <p:xfrm>
          <a:off x="952500" y="2095500"/>
          <a:ext cx="10287000" cy="3429000"/>
        </p:xfrm>
        <a:graphic>
          <a:graphicData uri="http://schemas.openxmlformats.org/drawingml/2006/chart">
            <c:chart r:id="rId2"/>
          </a:graphicData>
        </a:graphic>
      </p:graphicFrame>
      <p:pic>
        <p:nvPicPr>
          <p:cNvPr id="6" name="PPT Master narration: narration1.mp3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400" advClick="0" advTm="16500">
    <p:fade/>
  </p:transition>
  <p:timing>
    <p:tnLst>
      <p:par>
        <p:cTn id="1" dur="indefinite" restart="never" nodeType="tmRoot">
          <p:childTnLst>
            <p:audio>
              <p:cMediaNode vol="80000">
                <p:cTn id="2" fill="hold" display="0">
                  <p:stCondLst>
                    <p:cond delay="400"/>
                  </p:st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age-heading"/>
          <p:cNvGrpSpPr/>
          <p:nvPr/>
        </p:nvGrpSpPr>
        <p:grpSpPr>
          <a:xfrm>
            <a:off x="745998" y="707708"/>
            <a:ext cx="6690106" cy="701992"/>
            <a:chOff x="745998" y="707708"/>
            <a:chExt cx="6690106" cy="701992"/>
          </a:xfrm>
        </p:grpSpPr>
        <p:sp>
          <p:nvSpPr>
            <p:cNvPr id="2" name="TextBox 2"/>
            <p:cNvSpPr txBox="1"/>
            <p:nvPr/>
          </p:nvSpPr>
          <p:spPr>
            <a:xfrm>
              <a:off x="745998" y="707708"/>
              <a:ext cx="6690106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3150" b="1" dirty="0">
                  <a:solidFill>
                    <a:srgbClr val="1E2A4A"/>
                  </a:solidFill>
                  <a:latin typeface="+mn-lt"/>
                  <a:ea typeface="+mn-ea"/>
                  <a:cs typeface="+mn-cs"/>
                </a:rPr>
                <a:t>Which engine owns which object</a:t>
              </a:r>
            </a:p>
          </p:txBody>
        </p:sp>
        <p:sp>
          <p:nvSpPr>
            <p:cNvPr id="3" name="heading-rule"/>
            <p:cNvSpPr/>
            <p:nvPr/>
          </p:nvSpPr>
          <p:spPr>
            <a:xfrm>
              <a:off x="762000" y="1333500"/>
              <a:ext cx="1143000" cy="76200"/>
            </a:xfrm>
            <a:prstGeom prst="rect">
              <a:avLst/>
            </a:prstGeom>
            <a:solidFill>
              <a:srgbClr val="F5C518"/>
            </a:solidFill>
            <a:ln>
              <a:noFill/>
            </a:ln>
          </p:spPr>
        </p:sp>
      </p:grpSp>
      <p:graphicFrame>
        <p:nvGraphicFramePr>
          <p:cNvPr id="5" name="engine-table"/>
          <p:cNvGraphicFramePr>
            <a:graphicFrameLocks noGrp="1"/>
          </p:cNvGraphicFramePr>
          <p:nvPr/>
        </p:nvGraphicFramePr>
        <p:xfrm>
          <a:off x="762000" y="2095500"/>
          <a:ext cx="10668000" cy="17145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3810000"/>
                <a:gridCol w="4191000"/>
                <a:gridCol w="2667000"/>
              </a:tblGrid>
              <a:tr h="571500">
                <a:tc>
                  <a:txBody>
                    <a:bodyPr/>
                    <a:lstStyle/>
                    <a:p>
                      <a:pPr/>
                      <a:r>
                        <a:rPr lang="en" sz="980" b="1">
                          <a:solidFill>
                            <a:srgbClr val="5B6069"/>
                          </a:solidFill>
                          <a:latin typeface="Arial"/>
                          <a:ea typeface="Microsoft YaHei"/>
                          <a:cs typeface="Arial"/>
                        </a:rPr>
                        <a:t>Capability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" sz="980" b="1">
                          <a:solidFill>
                            <a:srgbClr val="5B6069"/>
                          </a:solidFill>
                          <a:latin typeface="Arial"/>
                          <a:ea typeface="Microsoft YaHei"/>
                          <a:cs typeface="Arial"/>
                        </a:rPr>
                        <a:t>Engine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" sz="980" b="1">
                          <a:solidFill>
                            <a:srgbClr val="5B6069"/>
                          </a:solidFill>
                          <a:latin typeface="Arial"/>
                          <a:ea typeface="Microsoft YaHei"/>
                          <a:cs typeface="Arial"/>
                        </a:rPr>
                        <a:t>Native object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/>
                      <a:r>
                        <a:rPr lang="en" sz="1120" b="0">
                          <a:solidFill>
                            <a:srgbClr val="1C1E23"/>
                          </a:solidFill>
                          <a:latin typeface="Arial"/>
                          <a:ea typeface="Microsoft YaHei"/>
                          <a:cs typeface="Arial"/>
                        </a:rPr>
                        <a:t>Charts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" sz="1120" b="0">
                          <a:solidFill>
                            <a:srgbClr val="1C1E23"/>
                          </a:solidFill>
                          <a:latin typeface="Arial"/>
                          <a:ea typeface="Microsoft YaHei"/>
                          <a:cs typeface="Arial"/>
                        </a:rPr>
                        <a:t>ppt-master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" sz="1120" b="0">
                          <a:solidFill>
                            <a:srgbClr val="1C1E23"/>
                          </a:solidFill>
                          <a:latin typeface="Arial"/>
                          <a:ea typeface="Microsoft YaHei"/>
                          <a:cs typeface="Arial"/>
                        </a:rPr>
                        <a:t>chartSpace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/>
                      <a:r>
                        <a:rPr lang="en" sz="1120" b="0">
                          <a:solidFill>
                            <a:srgbClr val="1C1E23"/>
                          </a:solidFill>
                          <a:latin typeface="Arial"/>
                          <a:ea typeface="Microsoft YaHei"/>
                          <a:cs typeface="Arial"/>
                        </a:rPr>
                        <a:t>Tables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" sz="1120" b="0">
                          <a:solidFill>
                            <a:srgbClr val="1C1E23"/>
                          </a:solidFill>
                          <a:latin typeface="Arial"/>
                          <a:ea typeface="Microsoft YaHei"/>
                          <a:cs typeface="Arial"/>
                        </a:rPr>
                        <a:t>ppt-master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" sz="1120" b="0">
                          <a:solidFill>
                            <a:srgbClr val="1C1E23"/>
                          </a:solidFill>
                          <a:latin typeface="Arial"/>
                          <a:ea typeface="Microsoft YaHei"/>
                          <a:cs typeface="Arial"/>
                        </a:rPr>
                        <a:t>graphicFrame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PPT Master narration: narration2.mp3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400" advClick="0" advTm="14600">
    <p:fade/>
  </p:transition>
  <p:timing>
    <p:tnLst>
      <p:par>
        <p:cTn id="1" dur="indefinite" restart="never" nodeType="tmRoot">
          <p:childTnLst>
            <p:audio>
              <p:cMediaNode vol="80000">
                <p:cTn id="2" fill="hold" display="0">
                  <p:stCondLst>
                    <p:cond delay="400"/>
                  </p:st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deep-p03-p04">
  <a:themeElements>
    <a:clrScheme name="deep-p03-p04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deep-p03-p04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eep-p03-p04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deep-p03-p04">
  <a:themeElements>
    <a:clrScheme name="deep-p03-p04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deep-p03-p04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eep-p03-p04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en</dc:language>
  <cp:lastModifiedBy/>
  <cp:revision>1</cp:revision>
  <dcterms:created xsi:type="dcterms:W3CDTF">2026-09-22T11:41:02Z</dcterms:created>
  <dcterms:modified xsi:type="dcterms:W3CDTF">2026-09-22T11:41:02Z</dcterms:modified>
  <cp:category/>
  <cp:contentStatus/>
</cp:coreProperties>
</file>